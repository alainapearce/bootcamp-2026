
<file path=[Content_Types].xml><?xml version="1.0" encoding="utf-8"?>
<Types xmlns="http://schemas.openxmlformats.org/package/2006/content-types">
  <Default Extension="bmp" ContentType="image/bmp"/>
  <Default Extension="gif" ContentType="image/gif"/>
  <Default Extension="jpeg" ContentType="image/jpg"/>
  <Default Extension="mov" ContentType="application/movie"/>
  <Default Extension="pdf" ContentType="application/pdf"/>
  <Default Extension="png" ContentType="image/png"/>
  <Default Extension="rels" ContentType="application/vnd.openxmlformats-package.relationships+xml"/>
  <Default Extension="tif" ContentType="image/tif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media/image1.jpeg" ContentType="image/jpe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1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customXml" Target="../customXml/item1.xml"/><Relationship Id="rId3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2" Type="http://schemas.openxmlformats.org/officeDocument/2006/relationships/viewProps" Target="viewProps.xml"/><Relationship Id="rId1" Type="http://schemas.openxmlformats.org/officeDocument/2006/relationships/presProps" Target="presProps.xml"/><Relationship Id="rId6" Type="http://schemas.openxmlformats.org/officeDocument/2006/relationships/theme" Target="theme/theme1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customXml" Target="../customXml/item3.xml"/><Relationship Id="rId10" Type="http://schemas.openxmlformats.org/officeDocument/2006/relationships/slide" Target="slides/slide3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customXml" Target="../customXml/item2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548062" y="2875359"/>
            <a:ext cx="17287876" cy="455414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548062" y="7411640"/>
            <a:ext cx="17287876" cy="1821657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rofile view of a red Ducati motorcycle"/>
          <p:cNvSpPr/>
          <p:nvPr>
            <p:ph type="pic" idx="21"/>
          </p:nvPr>
        </p:nvSpPr>
        <p:spPr>
          <a:xfrm>
            <a:off x="4818107" y="-946547"/>
            <a:ext cx="14611141" cy="1093685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4833937" y="9715500"/>
            <a:ext cx="14716126" cy="180379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3548062" y="4572000"/>
            <a:ext cx="17287876" cy="455414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ont view of a red Ducati motorcycle"/>
          <p:cNvSpPr/>
          <p:nvPr>
            <p:ph type="pic" sz="half" idx="21"/>
          </p:nvPr>
        </p:nvSpPr>
        <p:spPr>
          <a:xfrm>
            <a:off x="10573650" y="1946671"/>
            <a:ext cx="11070581" cy="98405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3548062" y="1428750"/>
            <a:ext cx="8286751" cy="5464969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3548062" y="6875859"/>
            <a:ext cx="8286751" cy="546497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1pPr>
            <a:lvl2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2pPr>
            <a:lvl3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3pPr>
            <a:lvl4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4pPr>
            <a:lvl5pPr marL="0" indent="0" algn="ctr">
              <a:spcBef>
                <a:spcPts val="0"/>
              </a:spcBef>
              <a:buClr>
                <a:srgbClr val="535353"/>
              </a:buClr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24452" indent="-724452">
              <a:lnSpc>
                <a:spcPct val="120000"/>
              </a:lnSpc>
              <a:spcBef>
                <a:spcPts val="6400"/>
              </a:spcBef>
              <a:defRPr sz="6400"/>
            </a:lvl1pPr>
            <a:lvl2pPr marL="1245152" indent="-724452">
              <a:lnSpc>
                <a:spcPct val="120000"/>
              </a:lnSpc>
              <a:spcBef>
                <a:spcPts val="6400"/>
              </a:spcBef>
              <a:defRPr sz="6400"/>
            </a:lvl2pPr>
            <a:lvl3pPr marL="1765852" indent="-724452">
              <a:lnSpc>
                <a:spcPct val="120000"/>
              </a:lnSpc>
              <a:spcBef>
                <a:spcPts val="6400"/>
              </a:spcBef>
              <a:defRPr sz="6400"/>
            </a:lvl3pPr>
            <a:lvl4pPr marL="2286552" indent="-724452">
              <a:lnSpc>
                <a:spcPct val="120000"/>
              </a:lnSpc>
              <a:spcBef>
                <a:spcPts val="6400"/>
              </a:spcBef>
              <a:defRPr sz="6400"/>
            </a:lvl4pPr>
            <a:lvl5pPr marL="2807252" indent="-724452">
              <a:lnSpc>
                <a:spcPct val="120000"/>
              </a:lnSpc>
              <a:spcBef>
                <a:spcPts val="64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ont view of a red Ducati motorcycle"/>
          <p:cNvSpPr/>
          <p:nvPr>
            <p:ph type="pic" sz="half" idx="21"/>
          </p:nvPr>
        </p:nvSpPr>
        <p:spPr>
          <a:xfrm>
            <a:off x="10772754" y="3857625"/>
            <a:ext cx="11094757" cy="986200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3548062" y="3839765"/>
            <a:ext cx="8286751" cy="885825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4119562" y="1071562"/>
            <a:ext cx="16127017" cy="11555017"/>
          </a:xfrm>
          <a:prstGeom prst="rect">
            <a:avLst/>
          </a:prstGeom>
        </p:spPr>
        <p:txBody>
          <a:bodyPr/>
          <a:lstStyle>
            <a:lvl1pPr marL="724452" indent="-724452">
              <a:lnSpc>
                <a:spcPct val="120000"/>
              </a:lnSpc>
              <a:spcBef>
                <a:spcPts val="6400"/>
              </a:spcBef>
              <a:defRPr sz="6400"/>
            </a:lvl1pPr>
            <a:lvl2pPr marL="1245152" indent="-724452">
              <a:lnSpc>
                <a:spcPct val="120000"/>
              </a:lnSpc>
              <a:spcBef>
                <a:spcPts val="6400"/>
              </a:spcBef>
              <a:defRPr sz="6400"/>
            </a:lvl2pPr>
            <a:lvl3pPr marL="1765852" indent="-724452">
              <a:lnSpc>
                <a:spcPct val="120000"/>
              </a:lnSpc>
              <a:spcBef>
                <a:spcPts val="6400"/>
              </a:spcBef>
              <a:defRPr sz="6400"/>
            </a:lvl3pPr>
            <a:lvl4pPr marL="2286552" indent="-724452">
              <a:lnSpc>
                <a:spcPct val="120000"/>
              </a:lnSpc>
              <a:spcBef>
                <a:spcPts val="6400"/>
              </a:spcBef>
              <a:defRPr sz="6400"/>
            </a:lvl4pPr>
            <a:lvl5pPr marL="2807252" indent="-724452">
              <a:lnSpc>
                <a:spcPct val="120000"/>
              </a:lnSpc>
              <a:spcBef>
                <a:spcPts val="6400"/>
              </a:spcBef>
              <a:defRPr sz="6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lose-up of Ducati motorcycle engine components"/>
          <p:cNvSpPr/>
          <p:nvPr>
            <p:ph type="pic" sz="quarter" idx="21"/>
          </p:nvPr>
        </p:nvSpPr>
        <p:spPr>
          <a:xfrm>
            <a:off x="12420112" y="6983015"/>
            <a:ext cx="8161735" cy="611189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Close-up of Ducati motorcycle gas cap"/>
          <p:cNvSpPr/>
          <p:nvPr>
            <p:ph type="pic" sz="quarter" idx="22"/>
          </p:nvPr>
        </p:nvSpPr>
        <p:spPr>
          <a:xfrm>
            <a:off x="12424171" y="625078"/>
            <a:ext cx="8161736" cy="611189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Black and white photo of Ducati motorcycle engine components"/>
          <p:cNvSpPr/>
          <p:nvPr>
            <p:ph type="pic" idx="23"/>
          </p:nvPr>
        </p:nvSpPr>
        <p:spPr>
          <a:xfrm>
            <a:off x="1726743" y="678656"/>
            <a:ext cx="11243383" cy="1502104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4833937" y="8001000"/>
            <a:ext cx="14716126" cy="714375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4833937" y="5838229"/>
            <a:ext cx="14716126" cy="9144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pPr/>
            <a:r>
              <a:t>“Type a quote here.”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ont view of a red Ducati motorcycle against a black background"/>
          <p:cNvSpPr/>
          <p:nvPr>
            <p:ph type="pic" idx="21"/>
          </p:nvPr>
        </p:nvSpPr>
        <p:spPr>
          <a:xfrm>
            <a:off x="-541735" y="0"/>
            <a:ext cx="24384001" cy="137160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>
            <a:lvl1pPr>
              <a:defRPr sz="11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8" name="Body Level One…"/>
          <p:cNvSpPr txBox="1"/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 algn="ctr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anchor="t"/>
          <a:lstStyle>
            <a:lvl1pPr>
              <a:defRPr sz="22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548062" y="357187"/>
            <a:ext cx="17287876" cy="342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548062" y="3839765"/>
            <a:ext cx="17287876" cy="8858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2882" y="13038931"/>
            <a:ext cx="460376" cy="4984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0" u="none">
          <a:solidFill>
            <a:srgbClr val="535353"/>
          </a:solidFill>
          <a:uFillTx/>
          <a:latin typeface="+mj-lt"/>
          <a:ea typeface="+mj-ea"/>
          <a:cs typeface="+mj-cs"/>
          <a:sym typeface="Avenir Next Regular"/>
        </a:defRPr>
      </a:lvl9pPr>
    </p:titleStyle>
    <p:bodyStyle>
      <a:lvl1pPr marL="5908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0226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4544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18862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3180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27498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31816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36134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4045284" marR="0" indent="-590884" algn="l" defTabSz="821531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b="0" baseline="0" cap="none" i="0" spc="0" strike="noStrike" sz="5200" u="none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azp271@psu.edu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cholarSphere"/>
          <p:cNvSpPr txBox="1"/>
          <p:nvPr>
            <p:ph type="ctrTitle"/>
          </p:nvPr>
        </p:nvSpPr>
        <p:spPr>
          <a:xfrm>
            <a:off x="546155" y="2902575"/>
            <a:ext cx="23291690" cy="4409197"/>
          </a:xfrm>
          <a:prstGeom prst="rect">
            <a:avLst/>
          </a:prstGeom>
        </p:spPr>
        <p:txBody>
          <a:bodyPr/>
          <a:lstStyle/>
          <a:p>
            <a:pPr/>
            <a:r>
              <a:t>ScholarSphere</a:t>
            </a:r>
          </a:p>
        </p:txBody>
      </p:sp>
      <p:sp>
        <p:nvSpPr>
          <p:cNvPr id="129" name="Alaina Pearce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Alaina Pearce</a:t>
            </a:r>
          </a:p>
          <a:p>
            <a:pPr/>
            <a:r>
              <a:rPr>
                <a:hlinkClick r:id="rId2" invalidUrl="" action="" tgtFrame="" tooltip="" history="1" highlightClick="0" endSnd="0"/>
              </a:rPr>
              <a:t>azp271@psu.edu</a:t>
            </a:r>
          </a:p>
        </p:txBody>
      </p:sp>
      <p:sp>
        <p:nvSpPr>
          <p:cNvPr id="130" name="Open Science Bootcamp 2025"/>
          <p:cNvSpPr txBox="1"/>
          <p:nvPr/>
        </p:nvSpPr>
        <p:spPr>
          <a:xfrm>
            <a:off x="18023310" y="12776082"/>
            <a:ext cx="6318133" cy="868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algn="r">
              <a:buClr>
                <a:srgbClr val="535353"/>
              </a:buClr>
              <a:defRPr sz="3000"/>
            </a:lvl1pPr>
          </a:lstStyle>
          <a:p>
            <a:pPr/>
            <a:r>
              <a:t>Open Science Bootcamp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cholarSphere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ScholarSphere</a:t>
            </a:r>
          </a:p>
        </p:txBody>
      </p:sp>
      <p:sp>
        <p:nvSpPr>
          <p:cNvPr id="133" name="Self-deposit for Penn State faculty, staff, and students at no cost…"/>
          <p:cNvSpPr txBox="1"/>
          <p:nvPr/>
        </p:nvSpPr>
        <p:spPr>
          <a:xfrm>
            <a:off x="1882158" y="4430417"/>
            <a:ext cx="20619685" cy="723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Self-deposit for Penn State faculty, staff, and students at no cost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Supports data sharing requirements and FAIR principles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rPr b="1">
                <a:latin typeface="Gill Sans"/>
                <a:ea typeface="Gill Sans"/>
                <a:cs typeface="Gill Sans"/>
                <a:sym typeface="Gill Sans"/>
              </a:rPr>
              <a:t>Curation services</a:t>
            </a:r>
            <a:r>
              <a:t> from PSU Librarians and the Data Curation Network </a:t>
            </a:r>
            <a:endParaRPr sz="1200"/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Satisfies requirements of PSU Open Access Policy (AC02)</a:t>
            </a:r>
            <a:endParaRPr sz="1200"/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Work drafts and versioning</a:t>
            </a:r>
            <a:endParaRPr sz="1200"/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Flexible access and visibility controls</a:t>
            </a:r>
            <a:endParaRPr sz="1200"/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Persistent access and preservation of work through DOI minting 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Data DOIs are indexed in GoogleScholar</a:t>
            </a:r>
            <a:endParaRPr sz="1200"/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Monthly reports tracking download statistics</a:t>
            </a:r>
            <a:endParaRPr sz="1200"/>
          </a:p>
        </p:txBody>
      </p:sp>
      <p:sp>
        <p:nvSpPr>
          <p:cNvPr id="134" name="Penn State’s open access institutional repository for publication and research data"/>
          <p:cNvSpPr txBox="1"/>
          <p:nvPr/>
        </p:nvSpPr>
        <p:spPr>
          <a:xfrm>
            <a:off x="2795823" y="2344391"/>
            <a:ext cx="18792355" cy="140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>
              <a:defRPr sz="4600"/>
            </a:pPr>
            <a:r>
              <a:t>Penn State’s open access institutional repository for publication and research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cholarSphere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ScholarSphere</a:t>
            </a:r>
          </a:p>
        </p:txBody>
      </p:sp>
      <p:sp>
        <p:nvSpPr>
          <p:cNvPr id="137" name="Penn State’s open access institutional repository for publication and research data"/>
          <p:cNvSpPr txBox="1"/>
          <p:nvPr/>
        </p:nvSpPr>
        <p:spPr>
          <a:xfrm>
            <a:off x="2795823" y="2344391"/>
            <a:ext cx="18792355" cy="1400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2">
              <a:defRPr sz="4600"/>
            </a:pPr>
            <a:r>
              <a:t>Penn State’s open access institutional repository for publication and research data</a:t>
            </a:r>
          </a:p>
        </p:txBody>
      </p:sp>
      <p:pic>
        <p:nvPicPr>
          <p:cNvPr id="13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5400000">
            <a:off x="7349313" y="-169043"/>
            <a:ext cx="9685373" cy="170191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ration Servi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Curation Services</a:t>
            </a:r>
          </a:p>
        </p:txBody>
      </p:sp>
      <p:sp>
        <p:nvSpPr>
          <p:cNvPr id="141" name="Check that files can be opened and appear to be working…"/>
          <p:cNvSpPr txBox="1"/>
          <p:nvPr/>
        </p:nvSpPr>
        <p:spPr>
          <a:xfrm>
            <a:off x="1882158" y="3475966"/>
            <a:ext cx="20619685" cy="6429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Check that files can be opened and appear to be working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Check that discover metadata is accurate and sufficiently described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Request additional metadata or documentation to support FAIR 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README file required for data deposits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Partner with the Data Curation Network for specialized data curation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Accessibility Checks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Alt-text required for all image files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PDF accessibility remediation</a:t>
            </a:r>
            <a:endParaRPr sz="12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ration Services"/>
          <p:cNvSpPr txBox="1"/>
          <p:nvPr>
            <p:ph type="title"/>
          </p:nvPr>
        </p:nvSpPr>
        <p:spPr>
          <a:xfrm>
            <a:off x="3682431" y="704887"/>
            <a:ext cx="17019138" cy="1803798"/>
          </a:xfrm>
          <a:prstGeom prst="rect">
            <a:avLst/>
          </a:prstGeom>
        </p:spPr>
        <p:txBody>
          <a:bodyPr/>
          <a:lstStyle>
            <a:lvl1pPr defTabSz="788669">
              <a:defRPr sz="9600"/>
            </a:lvl1pPr>
          </a:lstStyle>
          <a:p>
            <a:pPr/>
            <a:r>
              <a:t>Curation Services</a:t>
            </a:r>
          </a:p>
        </p:txBody>
      </p:sp>
      <p:sp>
        <p:nvSpPr>
          <p:cNvPr id="144" name="Check that files can be opened and appear to be working…"/>
          <p:cNvSpPr txBox="1"/>
          <p:nvPr/>
        </p:nvSpPr>
        <p:spPr>
          <a:xfrm>
            <a:off x="1882158" y="3475966"/>
            <a:ext cx="20619685" cy="6429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Check that files can be opened and appear to be working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Check that discover metadata is accurate and sufficiently described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Request additional metadata or documentation to support FAIR 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README file required for data deposits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Partner with the Data Curation Network for specialized data curation</a:t>
            </a:r>
          </a:p>
          <a:p>
            <a:pPr marL="4641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Accessibility Checks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Alt-text required for all image files</a:t>
            </a:r>
          </a:p>
          <a:p>
            <a:pPr lvl="1" marL="984802" indent="-464102" algn="l">
              <a:spcBef>
                <a:spcPts val="1500"/>
              </a:spcBef>
              <a:buClr>
                <a:srgbClr val="535353"/>
              </a:buClr>
              <a:buSzPct val="82000"/>
              <a:buChar char="•"/>
              <a:defRPr sz="4100"/>
            </a:pPr>
            <a:r>
              <a:t>PDF accessibility remediation</a:t>
            </a:r>
            <a:endParaRPr sz="1200"/>
          </a:p>
        </p:txBody>
      </p:sp>
      <p:sp>
        <p:nvSpPr>
          <p:cNvPr id="145" name="The researcher is not a passive participant - what you choose to do impacts what we can do for you"/>
          <p:cNvSpPr txBox="1"/>
          <p:nvPr/>
        </p:nvSpPr>
        <p:spPr>
          <a:xfrm>
            <a:off x="1836074" y="10872623"/>
            <a:ext cx="20711853" cy="2060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lvl="2">
              <a:defRPr sz="4600"/>
            </a:pPr>
            <a:r>
              <a:t>The researcher is not a passive participant - what you choose to do impacts what we can do for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Avenir Next Regular"/>
        <a:ea typeface="Avenir Next Regular"/>
        <a:cs typeface="Avenir Next Regular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Avenir Next Regular"/>
        <a:ea typeface="Avenir Next Regular"/>
        <a:cs typeface="Avenir Next Regular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625994EADAA74DBE5A64AB176206C8" ma:contentTypeVersion="10" ma:contentTypeDescription="Create a new document." ma:contentTypeScope="" ma:versionID="3d392d63b65216dfcb4c4f25bacbfe4b">
  <xsd:schema xmlns:xsd="http://www.w3.org/2001/XMLSchema" xmlns:xs="http://www.w3.org/2001/XMLSchema" xmlns:p="http://schemas.microsoft.com/office/2006/metadata/properties" xmlns:ns2="1c66f223-685a-489d-b2f9-54e90ccb5e24" xmlns:ns3="0ac478ea-1370-4eb3-af89-f3980a0721ae" targetNamespace="http://schemas.microsoft.com/office/2006/metadata/properties" ma:root="true" ma:fieldsID="f8416b6a1069a3373ecc7f4a7496d0ba" ns2:_="" ns3:_="">
    <xsd:import namespace="1c66f223-685a-489d-b2f9-54e90ccb5e24"/>
    <xsd:import namespace="0ac478ea-1370-4eb3-af89-f3980a0721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6f223-685a-489d-b2f9-54e90ccb5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478ea-1370-4eb3-af89-f3980a0721a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20c1aea-7613-4e7a-ae0b-ee2986fc7509}" ma:internalName="TaxCatchAll" ma:showField="CatchAllData" ma:web="0ac478ea-1370-4eb3-af89-f3980a0721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c478ea-1370-4eb3-af89-f3980a0721ae" xsi:nil="true"/>
    <lcf76f155ced4ddcb4097134ff3c332f xmlns="1c66f223-685a-489d-b2f9-54e90ccb5e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DD666D2-E1F1-49B3-986F-516C955F60AE}"/>
</file>

<file path=customXml/itemProps2.xml><?xml version="1.0" encoding="utf-8"?>
<ds:datastoreItem xmlns:ds="http://schemas.openxmlformats.org/officeDocument/2006/customXml" ds:itemID="{B81C9616-2AF5-4C14-9CC9-C031FD69EF0E}"/>
</file>

<file path=customXml/itemProps3.xml><?xml version="1.0" encoding="utf-8"?>
<ds:datastoreItem xmlns:ds="http://schemas.openxmlformats.org/officeDocument/2006/customXml" ds:itemID="{A8292722-A9FE-45AB-9F82-81D931D7F92C}"/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0x0101001B625994EADAA74DBE5A64AB176206C8</vt:lpwstr>
  </property>
</Properties>
</file>